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60B35-607C-4476-A06F-EDD34E74553F}" v="15" dt="2026-09-25T08:47:32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65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2214212619301693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link.springer.com/chapter/10.1007/978-3-319-07620-1_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ci.org.in/what-we-do/upi/productoverview" TargetMode="External"/><Relationship Id="rId5" Type="http://schemas.openxmlformats.org/officeDocument/2006/relationships/hyperlink" Target="https://www.npci.org.in/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ieeexplore.ieee.org/document/1108565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8962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69360"/>
            <a:ext cx="11316071" cy="581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QR-based UPI payments are ubiquitous in India, but missing merchant verification makes users vulnerable to QR replacement scams and payment redirection fraud.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SIH26199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Cybersecurity and Fintech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TEAM FACEOFF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Members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Appandairaj .J, Vijay Kumar Paliwal .D, Guna Ranjan .M, Krithick, Devadharshini .B, Divya .S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1CF0EEA6-4BD6-B752-0A89-00FFA4CAA56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1286" y="315746"/>
            <a:ext cx="915913" cy="5992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Face Off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44973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TITLE –</a:t>
            </a:r>
            <a:r>
              <a:rPr lang="en-US" sz="36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QRShield</a:t>
            </a: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90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Face Off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3BD1E9-62B2-E1B3-31EF-6825BCF86652}"/>
              </a:ext>
            </a:extLst>
          </p:cNvPr>
          <p:cNvSpPr txBox="1"/>
          <p:nvPr/>
        </p:nvSpPr>
        <p:spPr>
          <a:xfrm>
            <a:off x="329773" y="1395246"/>
            <a:ext cx="6093500" cy="492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 err="1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QRShield</a:t>
            </a:r>
            <a:r>
              <a:rPr lang="en-US" sz="26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 AI — Fraud Intelligence API 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06AE6-1150-17B9-946B-D78E682740F9}"/>
              </a:ext>
            </a:extLst>
          </p:cNvPr>
          <p:cNvSpPr txBox="1"/>
          <p:nvPr/>
        </p:nvSpPr>
        <p:spPr>
          <a:xfrm>
            <a:off x="558163" y="1921010"/>
            <a:ext cx="11252627" cy="1046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QRShield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integrates with existing UPI apps to run real-time fraud analysis before payment confirmation. It provides merchant verification, QR identity checks, a fraud intelligence database, AI risk scoring, reputation analysis, and a Voice Payment Assistant to alert users audibly when something looks suspicious.</a:t>
            </a:r>
            <a:endParaRPr lang="en-US" sz="16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9BE123F8-776E-4581-21C8-20088A3BE3D5}"/>
              </a:ext>
            </a:extLst>
          </p:cNvPr>
          <p:cNvSpPr/>
          <p:nvPr/>
        </p:nvSpPr>
        <p:spPr>
          <a:xfrm>
            <a:off x="616657" y="3372817"/>
            <a:ext cx="2593216" cy="2510780"/>
          </a:xfrm>
          <a:prstGeom prst="roundRect">
            <a:avLst>
              <a:gd name="adj" fmla="val 3043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56195C0-0E31-2CBE-2A03-9BD08FD3A712}"/>
              </a:ext>
            </a:extLst>
          </p:cNvPr>
          <p:cNvSpPr/>
          <p:nvPr/>
        </p:nvSpPr>
        <p:spPr>
          <a:xfrm>
            <a:off x="788301" y="3632746"/>
            <a:ext cx="2249927" cy="568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Merchant Verifcation Engine</a:t>
            </a:r>
            <a:endParaRPr lang="en-US" sz="1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9544E3E-4AC3-C2CC-2F54-B60E3568A944}"/>
              </a:ext>
            </a:extLst>
          </p:cNvPr>
          <p:cNvSpPr/>
          <p:nvPr/>
        </p:nvSpPr>
        <p:spPr>
          <a:xfrm>
            <a:off x="788301" y="4235047"/>
            <a:ext cx="2249927" cy="87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merchant identity, registered UPI ID, and official QR registration.</a:t>
            </a:r>
            <a:endParaRPr lang="en-US" sz="13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4DF0640B-75CF-4218-BE61-0DCF0517922C}"/>
              </a:ext>
            </a:extLst>
          </p:cNvPr>
          <p:cNvSpPr/>
          <p:nvPr/>
        </p:nvSpPr>
        <p:spPr>
          <a:xfrm>
            <a:off x="3375167" y="3372817"/>
            <a:ext cx="2593216" cy="2510780"/>
          </a:xfrm>
          <a:prstGeom prst="roundRect">
            <a:avLst>
              <a:gd name="adj" fmla="val 3043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797123DD-5CD6-A094-089C-0760EC23CB3D}"/>
              </a:ext>
            </a:extLst>
          </p:cNvPr>
          <p:cNvSpPr/>
          <p:nvPr/>
        </p:nvSpPr>
        <p:spPr>
          <a:xfrm>
            <a:off x="3546811" y="3632746"/>
            <a:ext cx="2249927" cy="568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Fraud Intelligence Database</a:t>
            </a:r>
            <a:endParaRPr lang="en-US" sz="16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139CA9B-1A5B-93D6-6064-40DC2B195A9F}"/>
              </a:ext>
            </a:extLst>
          </p:cNvPr>
          <p:cNvSpPr/>
          <p:nvPr/>
        </p:nvSpPr>
        <p:spPr>
          <a:xfrm>
            <a:off x="3546811" y="4235047"/>
            <a:ext cx="2249927" cy="87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verified merchants, fraud reports, reputation, and history for decisions.</a:t>
            </a:r>
            <a:endParaRPr lang="en-US" sz="13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F70BFD1-8305-5038-D27A-35A0E731971C}"/>
              </a:ext>
            </a:extLst>
          </p:cNvPr>
          <p:cNvSpPr/>
          <p:nvPr/>
        </p:nvSpPr>
        <p:spPr>
          <a:xfrm>
            <a:off x="6133677" y="3372817"/>
            <a:ext cx="2593216" cy="2510780"/>
          </a:xfrm>
          <a:prstGeom prst="roundRect">
            <a:avLst>
              <a:gd name="adj" fmla="val 3043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E4E06F4-5C90-459E-A42D-130DB83260B9}"/>
              </a:ext>
            </a:extLst>
          </p:cNvPr>
          <p:cNvSpPr/>
          <p:nvPr/>
        </p:nvSpPr>
        <p:spPr>
          <a:xfrm>
            <a:off x="6305321" y="3645668"/>
            <a:ext cx="2249927" cy="28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AI Risk Scoring</a:t>
            </a:r>
            <a:endParaRPr lang="en-US" sz="16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3456AD02-ACD2-04A1-FDF2-1FED76BB03D9}"/>
              </a:ext>
            </a:extLst>
          </p:cNvPr>
          <p:cNvSpPr/>
          <p:nvPr/>
        </p:nvSpPr>
        <p:spPr>
          <a:xfrm>
            <a:off x="6305321" y="3963353"/>
            <a:ext cx="2249927" cy="116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a risk score          (0–100) using historical behavior, anomaly detection, and QR validation.</a:t>
            </a:r>
            <a:endParaRPr lang="en-US" sz="13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24A9FE7D-3F23-E087-0CB4-B03682182795}"/>
              </a:ext>
            </a:extLst>
          </p:cNvPr>
          <p:cNvSpPr/>
          <p:nvPr/>
        </p:nvSpPr>
        <p:spPr>
          <a:xfrm>
            <a:off x="8892187" y="3372817"/>
            <a:ext cx="2593216" cy="2510780"/>
          </a:xfrm>
          <a:prstGeom prst="roundRect">
            <a:avLst>
              <a:gd name="adj" fmla="val 3043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54B9EDE-8959-0A35-C019-0180F259E87C}"/>
              </a:ext>
            </a:extLst>
          </p:cNvPr>
          <p:cNvSpPr/>
          <p:nvPr/>
        </p:nvSpPr>
        <p:spPr>
          <a:xfrm>
            <a:off x="9063831" y="3632746"/>
            <a:ext cx="2249927" cy="568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Voice Payment Assistant</a:t>
            </a:r>
            <a:endParaRPr lang="en-US" sz="16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556B0F1-D582-CDEA-632F-5CFA649307BE}"/>
              </a:ext>
            </a:extLst>
          </p:cNvPr>
          <p:cNvSpPr/>
          <p:nvPr/>
        </p:nvSpPr>
        <p:spPr>
          <a:xfrm>
            <a:off x="9063831" y="4208586"/>
            <a:ext cx="2249927" cy="145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Announces payment details aloud: e.g., “You are about to pay ₹250 to ABC Grocery Store.” Warns when mismatch or risk is detected.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4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Face Off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CB947543-B59B-7291-9B2F-EBC311BD2E8F}"/>
              </a:ext>
            </a:extLst>
          </p:cNvPr>
          <p:cNvGrpSpPr/>
          <p:nvPr/>
        </p:nvGrpSpPr>
        <p:grpSpPr>
          <a:xfrm>
            <a:off x="586754" y="2064737"/>
            <a:ext cx="502920" cy="502920"/>
            <a:chOff x="396657" y="2000428"/>
            <a:chExt cx="502920" cy="50292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A55FE2D-B9AB-BB5E-E4AC-15818D158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657" y="2000428"/>
              <a:ext cx="502920" cy="50292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04DA84E-9895-418F-2C8F-459B54335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9535" y="2147113"/>
              <a:ext cx="157163" cy="209550"/>
            </a:xfrm>
            <a:prstGeom prst="rect">
              <a:avLst/>
            </a:prstGeom>
          </p:spPr>
        </p:pic>
      </p:grpSp>
      <p:sp>
        <p:nvSpPr>
          <p:cNvPr id="48" name="TextBox 5">
            <a:extLst>
              <a:ext uri="{FF2B5EF4-FFF2-40B4-BE49-F238E27FC236}">
                <a16:creationId xmlns:a16="http://schemas.microsoft.com/office/drawing/2014/main" id="{9590AF0F-8B0F-5130-0BAD-8A03FF42F276}"/>
              </a:ext>
            </a:extLst>
          </p:cNvPr>
          <p:cNvSpPr txBox="1"/>
          <p:nvPr/>
        </p:nvSpPr>
        <p:spPr>
          <a:xfrm>
            <a:off x="1313696" y="1805997"/>
            <a:ext cx="5005625" cy="413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2000" b="1" dirty="0"/>
              <a:t>Mobile Integration SDK</a:t>
            </a:r>
          </a:p>
        </p:txBody>
      </p:sp>
      <p:sp>
        <p:nvSpPr>
          <p:cNvPr id="50" name="TextBox 6">
            <a:extLst>
              <a:ext uri="{FF2B5EF4-FFF2-40B4-BE49-F238E27FC236}">
                <a16:creationId xmlns:a16="http://schemas.microsoft.com/office/drawing/2014/main" id="{C33F6AE0-FCE1-D59D-F328-154DA72B29BD}"/>
              </a:ext>
            </a:extLst>
          </p:cNvPr>
          <p:cNvSpPr txBox="1"/>
          <p:nvPr/>
        </p:nvSpPr>
        <p:spPr>
          <a:xfrm>
            <a:off x="1351855" y="2271641"/>
            <a:ext cx="476726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dirty="0">
                <a:solidFill>
                  <a:srgbClr val="475569"/>
                </a:solidFill>
                <a:latin typeface="Inter"/>
              </a:rPr>
              <a:t>Flutter: </a:t>
            </a:r>
            <a:r>
              <a:rPr dirty="0"/>
              <a:t>Cross-platform client D</a:t>
            </a:r>
            <a:r>
              <a:rPr lang="en-IN" dirty="0"/>
              <a:t>S</a:t>
            </a:r>
            <a:r>
              <a:rPr dirty="0"/>
              <a:t>K enabling seamless UPI scanner intercepts and native UI alerts.</a:t>
            </a:r>
          </a:p>
        </p:txBody>
      </p:sp>
      <p:grpSp>
        <p:nvGrpSpPr>
          <p:cNvPr id="17408" name="Group 17407">
            <a:extLst>
              <a:ext uri="{FF2B5EF4-FFF2-40B4-BE49-F238E27FC236}">
                <a16:creationId xmlns:a16="http://schemas.microsoft.com/office/drawing/2014/main" id="{DEF7689C-EC73-0E64-144C-C9B08FB6C91E}"/>
              </a:ext>
            </a:extLst>
          </p:cNvPr>
          <p:cNvGrpSpPr/>
          <p:nvPr/>
        </p:nvGrpSpPr>
        <p:grpSpPr>
          <a:xfrm>
            <a:off x="580302" y="3177540"/>
            <a:ext cx="502920" cy="502920"/>
            <a:chOff x="362568" y="3096519"/>
            <a:chExt cx="502920" cy="502920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69FBFF-1DCE-94DA-7BDB-A7189AEF2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2568" y="3096519"/>
              <a:ext cx="502920" cy="50292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FAF205B-3FCB-926D-2713-F3CAE3099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9253" y="3243204"/>
              <a:ext cx="209550" cy="209550"/>
            </a:xfrm>
            <a:prstGeom prst="rect">
              <a:avLst/>
            </a:prstGeom>
          </p:spPr>
        </p:pic>
      </p:grpSp>
      <p:sp>
        <p:nvSpPr>
          <p:cNvPr id="54" name="TextBox 8">
            <a:extLst>
              <a:ext uri="{FF2B5EF4-FFF2-40B4-BE49-F238E27FC236}">
                <a16:creationId xmlns:a16="http://schemas.microsoft.com/office/drawing/2014/main" id="{7660EC2A-6851-0A31-2504-BEC1861C8FD1}"/>
              </a:ext>
            </a:extLst>
          </p:cNvPr>
          <p:cNvSpPr txBox="1"/>
          <p:nvPr/>
        </p:nvSpPr>
        <p:spPr>
          <a:xfrm>
            <a:off x="1340725" y="3040753"/>
            <a:ext cx="5005625" cy="413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2000" b="1" i="0" u="none" dirty="0">
                <a:solidFill>
                  <a:srgbClr val="0F172A"/>
                </a:solidFill>
                <a:latin typeface="Plus Jakarta Sans SemiBold"/>
              </a:rPr>
              <a:t>Backend &amp; API Engine</a:t>
            </a:r>
          </a:p>
        </p:txBody>
      </p:sp>
      <p:sp>
        <p:nvSpPr>
          <p:cNvPr id="56" name="TextBox 9">
            <a:extLst>
              <a:ext uri="{FF2B5EF4-FFF2-40B4-BE49-F238E27FC236}">
                <a16:creationId xmlns:a16="http://schemas.microsoft.com/office/drawing/2014/main" id="{9CA0CA09-3278-55F2-CAF2-51BEDD2DA928}"/>
              </a:ext>
            </a:extLst>
          </p:cNvPr>
          <p:cNvSpPr txBox="1"/>
          <p:nvPr/>
        </p:nvSpPr>
        <p:spPr>
          <a:xfrm>
            <a:off x="1321555" y="3512636"/>
            <a:ext cx="476726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475569"/>
                </a:solidFill>
                <a:latin typeface="Inter"/>
              </a:rPr>
              <a:t>Node.js &amp; Express: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Scalable RESTful endpoints secured with JWT for high-concurrency request routing.</a:t>
            </a:r>
          </a:p>
        </p:txBody>
      </p:sp>
      <p:grpSp>
        <p:nvGrpSpPr>
          <p:cNvPr id="17410" name="Group 17409">
            <a:extLst>
              <a:ext uri="{FF2B5EF4-FFF2-40B4-BE49-F238E27FC236}">
                <a16:creationId xmlns:a16="http://schemas.microsoft.com/office/drawing/2014/main" id="{E27C7C89-0974-F675-06A4-937E9C7C6AC9}"/>
              </a:ext>
            </a:extLst>
          </p:cNvPr>
          <p:cNvGrpSpPr/>
          <p:nvPr/>
        </p:nvGrpSpPr>
        <p:grpSpPr>
          <a:xfrm>
            <a:off x="590212" y="4407675"/>
            <a:ext cx="502920" cy="502920"/>
            <a:chOff x="384831" y="4039940"/>
            <a:chExt cx="502920" cy="502920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5FA179D-CC91-E835-438E-CC2A51F6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831" y="4039940"/>
              <a:ext cx="502920" cy="50292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EA1C8BF-9554-75D7-A5BF-B0BDE719C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1516" y="4186625"/>
              <a:ext cx="209550" cy="209550"/>
            </a:xfrm>
            <a:prstGeom prst="rect">
              <a:avLst/>
            </a:prstGeom>
          </p:spPr>
        </p:pic>
      </p:grpSp>
      <p:sp>
        <p:nvSpPr>
          <p:cNvPr id="60" name="TextBox 11">
            <a:extLst>
              <a:ext uri="{FF2B5EF4-FFF2-40B4-BE49-F238E27FC236}">
                <a16:creationId xmlns:a16="http://schemas.microsoft.com/office/drawing/2014/main" id="{38056DB7-9D75-0DF3-9D64-CA8092B6650F}"/>
              </a:ext>
            </a:extLst>
          </p:cNvPr>
          <p:cNvSpPr txBox="1"/>
          <p:nvPr/>
        </p:nvSpPr>
        <p:spPr>
          <a:xfrm>
            <a:off x="1351855" y="4291400"/>
            <a:ext cx="5005625" cy="413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2000" b="1" i="0" u="none" dirty="0">
                <a:solidFill>
                  <a:srgbClr val="0F172A"/>
                </a:solidFill>
                <a:latin typeface="Plus Jakarta Sans SemiBold"/>
              </a:rPr>
              <a:t>AI &amp; Risk Scoring Engine</a:t>
            </a:r>
          </a:p>
        </p:txBody>
      </p:sp>
      <p:sp>
        <p:nvSpPr>
          <p:cNvPr id="62" name="TextBox 12">
            <a:extLst>
              <a:ext uri="{FF2B5EF4-FFF2-40B4-BE49-F238E27FC236}">
                <a16:creationId xmlns:a16="http://schemas.microsoft.com/office/drawing/2014/main" id="{8E858A1D-B67D-E7DE-759F-99AC34C57E8E}"/>
              </a:ext>
            </a:extLst>
          </p:cNvPr>
          <p:cNvSpPr txBox="1"/>
          <p:nvPr/>
        </p:nvSpPr>
        <p:spPr>
          <a:xfrm>
            <a:off x="1313696" y="4715714"/>
            <a:ext cx="476726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solidFill>
                  <a:srgbClr val="475569"/>
                </a:solidFill>
                <a:latin typeface="Inter"/>
              </a:rPr>
              <a:t>A</a:t>
            </a:r>
            <a:r>
              <a:rPr lang="en-IN" b="1" i="0" u="none" dirty="0">
                <a:solidFill>
                  <a:srgbClr val="475569"/>
                </a:solidFill>
                <a:latin typeface="Inter"/>
              </a:rPr>
              <a:t>lgorithm and Model</a:t>
            </a:r>
            <a:r>
              <a:rPr b="1" i="0" u="none" dirty="0">
                <a:solidFill>
                  <a:srgbClr val="475569"/>
                </a:solidFill>
                <a:latin typeface="Inter"/>
              </a:rPr>
              <a:t>: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Isolation Forest models and rule-based evaluation delivering real-time risk scores (0–100).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CD4B10-F061-CFEB-8EA1-26D4B59FD9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7780" y="1608866"/>
            <a:ext cx="5066300" cy="46299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290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Face Off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D27EE81-B4BA-1C31-1D95-43FD78508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57" y="-8394783"/>
            <a:ext cx="502920" cy="5029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7C1F81-914C-B75C-CE17-2D985049D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68" y="-7298692"/>
            <a:ext cx="502920" cy="5029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047FA0-FACA-E81E-C2DC-0C29A3EE1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31" y="-6355271"/>
            <a:ext cx="502920" cy="5029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2185626-7A21-F62E-52B0-F8C6A0982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535" y="-8248098"/>
            <a:ext cx="157163" cy="209550"/>
          </a:xfrm>
          <a:prstGeom prst="rect">
            <a:avLst/>
          </a:prstGeom>
        </p:spPr>
      </p:pic>
      <p:sp>
        <p:nvSpPr>
          <p:cNvPr id="37" name="TextBox 5">
            <a:extLst>
              <a:ext uri="{FF2B5EF4-FFF2-40B4-BE49-F238E27FC236}">
                <a16:creationId xmlns:a16="http://schemas.microsoft.com/office/drawing/2014/main" id="{B4147D69-4B2A-4D60-11C8-CFADB7C96AB7}"/>
              </a:ext>
            </a:extLst>
          </p:cNvPr>
          <p:cNvSpPr txBox="1"/>
          <p:nvPr/>
        </p:nvSpPr>
        <p:spPr>
          <a:xfrm>
            <a:off x="1061324" y="-8488655"/>
            <a:ext cx="5005625" cy="372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b="1" dirty="0"/>
              <a:t>Mobile Integration SDK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CDF2CC46-9984-64FB-F7F0-D93A65D5EAE6}"/>
              </a:ext>
            </a:extLst>
          </p:cNvPr>
          <p:cNvSpPr txBox="1"/>
          <p:nvPr/>
        </p:nvSpPr>
        <p:spPr>
          <a:xfrm>
            <a:off x="1072455" y="-8123570"/>
            <a:ext cx="47672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 i="0" u="none" dirty="0">
                <a:solidFill>
                  <a:srgbClr val="475569"/>
                </a:solidFill>
                <a:latin typeface="Inter"/>
              </a:rPr>
              <a:t>Flutter: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Cross-platform client D</a:t>
            </a:r>
            <a:r>
              <a:rPr lang="en-IN" sz="1600" dirty="0">
                <a:solidFill>
                  <a:srgbClr val="475569"/>
                </a:solidFill>
                <a:latin typeface="Inter"/>
              </a:rPr>
              <a:t>S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K enabling seamless UPI scanner intercepts and native UI alerts.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A791E5C-2821-8177-A2B4-733389EC67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53" y="-7152007"/>
            <a:ext cx="209550" cy="209550"/>
          </a:xfrm>
          <a:prstGeom prst="rect">
            <a:avLst/>
          </a:prstGeom>
        </p:spPr>
      </p:pic>
      <p:sp>
        <p:nvSpPr>
          <p:cNvPr id="40" name="TextBox 8">
            <a:extLst>
              <a:ext uri="{FF2B5EF4-FFF2-40B4-BE49-F238E27FC236}">
                <a16:creationId xmlns:a16="http://schemas.microsoft.com/office/drawing/2014/main" id="{12A43B4D-EC40-1A6B-D1E1-67C4F762ABC3}"/>
              </a:ext>
            </a:extLst>
          </p:cNvPr>
          <p:cNvSpPr txBox="1"/>
          <p:nvPr/>
        </p:nvSpPr>
        <p:spPr>
          <a:xfrm>
            <a:off x="1061325" y="-7367126"/>
            <a:ext cx="5005625" cy="372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b="1" i="0" u="none" dirty="0">
                <a:solidFill>
                  <a:srgbClr val="0F172A"/>
                </a:solidFill>
                <a:latin typeface="Plus Jakarta Sans SemiBold"/>
              </a:rPr>
              <a:t>Backend &amp; API Engine</a:t>
            </a: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35C7C7D1-4270-3858-9C9F-13B69FF53FF7}"/>
              </a:ext>
            </a:extLst>
          </p:cNvPr>
          <p:cNvSpPr txBox="1"/>
          <p:nvPr/>
        </p:nvSpPr>
        <p:spPr>
          <a:xfrm>
            <a:off x="1042155" y="-7034357"/>
            <a:ext cx="47672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rgbClr val="475569"/>
                </a:solidFill>
                <a:latin typeface="Inter"/>
              </a:rPr>
              <a:t>Node.js &amp; Express: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Scalable RESTful endpoints secured with JWT for high-concurrency request routing.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4287D3A-24E9-6A13-C831-12A77E5369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516" y="-6208586"/>
            <a:ext cx="209550" cy="209550"/>
          </a:xfrm>
          <a:prstGeom prst="rect">
            <a:avLst/>
          </a:prstGeom>
        </p:spPr>
      </p:pic>
      <p:sp>
        <p:nvSpPr>
          <p:cNvPr id="43" name="TextBox 11">
            <a:extLst>
              <a:ext uri="{FF2B5EF4-FFF2-40B4-BE49-F238E27FC236}">
                <a16:creationId xmlns:a16="http://schemas.microsoft.com/office/drawing/2014/main" id="{B31F3621-B689-1C34-B150-ABA73C34D96B}"/>
              </a:ext>
            </a:extLst>
          </p:cNvPr>
          <p:cNvSpPr txBox="1"/>
          <p:nvPr/>
        </p:nvSpPr>
        <p:spPr>
          <a:xfrm>
            <a:off x="1034296" y="-6432238"/>
            <a:ext cx="5005625" cy="372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b="1" i="0" u="none" dirty="0">
                <a:solidFill>
                  <a:srgbClr val="0F172A"/>
                </a:solidFill>
                <a:latin typeface="Plus Jakarta Sans SemiBold"/>
              </a:rPr>
              <a:t>AI &amp; Risk Scoring Engine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856A33F1-47C2-6B8E-11F1-AC731C3FD2B5}"/>
              </a:ext>
            </a:extLst>
          </p:cNvPr>
          <p:cNvSpPr txBox="1"/>
          <p:nvPr/>
        </p:nvSpPr>
        <p:spPr>
          <a:xfrm>
            <a:off x="1034296" y="-6068016"/>
            <a:ext cx="47672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rgbClr val="475569"/>
                </a:solidFill>
                <a:latin typeface="Inter"/>
              </a:rPr>
              <a:t>Python &amp; scikit-learn: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Isolation Forest models and rule-based evaluation delivering real-time risk scores (0–100).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251269-EAF4-BC55-384A-14DC11C633EB}"/>
              </a:ext>
            </a:extLst>
          </p:cNvPr>
          <p:cNvGrpSpPr/>
          <p:nvPr/>
        </p:nvGrpSpPr>
        <p:grpSpPr>
          <a:xfrm>
            <a:off x="341664" y="2565274"/>
            <a:ext cx="5717460" cy="3661014"/>
            <a:chOff x="385081" y="1800979"/>
            <a:chExt cx="5717460" cy="3661014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9A4B6D19-14F7-D0DD-393E-71A93E885E11}"/>
                </a:ext>
              </a:extLst>
            </p:cNvPr>
            <p:cNvSpPr txBox="1"/>
            <p:nvPr/>
          </p:nvSpPr>
          <p:spPr>
            <a:xfrm>
              <a:off x="695661" y="1800979"/>
              <a:ext cx="5406880" cy="525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100"/>
                </a:lnSpc>
                <a:spcAft>
                  <a:spcPts val="100"/>
                </a:spcAft>
              </a:pPr>
              <a:r>
                <a:rPr lang="en-IN" sz="1600" b="1" dirty="0">
                  <a:solidFill>
                    <a:srgbClr val="334155"/>
                  </a:solidFill>
                  <a:latin typeface="Inter"/>
                </a:rPr>
                <a:t>Existing Technology</a:t>
              </a:r>
              <a:r>
                <a:rPr sz="1600" b="1" i="0" u="none" dirty="0">
                  <a:solidFill>
                    <a:srgbClr val="334155"/>
                  </a:solidFill>
                  <a:latin typeface="Inter"/>
                </a:rPr>
                <a:t>:</a:t>
              </a:r>
              <a:r>
                <a:rPr sz="1600" b="0" i="0" u="none" dirty="0">
                  <a:solidFill>
                    <a:srgbClr val="334155"/>
                  </a:solidFill>
                  <a:latin typeface="Inter"/>
                </a:rPr>
                <a:t> </a:t>
              </a:r>
              <a:r>
                <a:rPr lang="en-US" sz="1600" dirty="0">
                  <a:solidFill>
                    <a:srgbClr val="334155"/>
                  </a:solidFill>
                  <a:latin typeface="Inter"/>
                </a:rPr>
                <a:t>Uses proven technologies such as AI/ML, REST APIs, QR decoding and cloud infrastructure.</a:t>
              </a:r>
              <a:endParaRPr sz="1600" b="0" i="0" u="none" dirty="0">
                <a:solidFill>
                  <a:srgbClr val="334155"/>
                </a:solidFill>
                <a:latin typeface="Inter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8B5D12-2BA0-2A4F-2558-80A087F2925D}"/>
                </a:ext>
              </a:extLst>
            </p:cNvPr>
            <p:cNvSpPr txBox="1"/>
            <p:nvPr/>
          </p:nvSpPr>
          <p:spPr>
            <a:xfrm>
              <a:off x="695660" y="2761985"/>
              <a:ext cx="5406880" cy="7466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100"/>
                </a:lnSpc>
              </a:pPr>
              <a:r>
                <a:rPr lang="en-IN" sz="1600" b="1" dirty="0">
                  <a:solidFill>
                    <a:srgbClr val="334155"/>
                  </a:solidFill>
                  <a:latin typeface="Inter"/>
                </a:rPr>
                <a:t>Real-Time Detection: </a:t>
              </a:r>
              <a:r>
                <a:rPr lang="en-US" sz="1600" dirty="0" err="1">
                  <a:solidFill>
                    <a:srgbClr val="334155"/>
                  </a:solidFill>
                  <a:latin typeface="Inter"/>
                </a:rPr>
                <a:t>Behavioural</a:t>
              </a:r>
              <a:r>
                <a:rPr lang="en-US" sz="1600" dirty="0">
                  <a:solidFill>
                    <a:srgbClr val="334155"/>
                  </a:solidFill>
                  <a:latin typeface="Inter"/>
                </a:rPr>
                <a:t> and transaction-pattern analysis can generate risk scores with minimal payment delay.</a:t>
              </a:r>
              <a:endParaRPr lang="en-IN" sz="1600" dirty="0">
                <a:solidFill>
                  <a:srgbClr val="334155"/>
                </a:solidFill>
                <a:latin typeface="Inter"/>
              </a:endParaRPr>
            </a:p>
            <a:p>
              <a:pPr algn="l">
                <a:lnSpc>
                  <a:spcPts val="1631"/>
                </a:lnSpc>
              </a:pPr>
              <a:endParaRPr sz="1600" b="0" i="0" u="none" dirty="0">
                <a:solidFill>
                  <a:srgbClr val="334155"/>
                </a:solidFill>
                <a:latin typeface="Inter"/>
              </a:endParaRP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FECF909A-976E-EFD7-6B8B-A6AE9EFEBDBD}"/>
                </a:ext>
              </a:extLst>
            </p:cNvPr>
            <p:cNvSpPr txBox="1"/>
            <p:nvPr/>
          </p:nvSpPr>
          <p:spPr>
            <a:xfrm>
              <a:off x="695658" y="3631215"/>
              <a:ext cx="5406880" cy="7947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100"/>
                </a:lnSpc>
              </a:pPr>
              <a:r>
                <a:rPr lang="en-IN" sz="1600" b="1" dirty="0">
                  <a:solidFill>
                    <a:srgbClr val="334155"/>
                  </a:solidFill>
                  <a:latin typeface="Inter"/>
                </a:rPr>
                <a:t>Scalable Integration: </a:t>
              </a:r>
              <a:r>
                <a:rPr lang="en-US" sz="1600" dirty="0">
                  <a:solidFill>
                    <a:srgbClr val="334155"/>
                  </a:solidFill>
                  <a:latin typeface="Inter"/>
                </a:rPr>
                <a:t>Modular API architecture can integrate with authorized UPI ecosystem partners and scale through cloud deployment.</a:t>
              </a:r>
              <a:endParaRPr sz="1600" b="0" i="0" u="none" dirty="0">
                <a:solidFill>
                  <a:srgbClr val="334155"/>
                </a:solidFill>
                <a:latin typeface="Inter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7B70D999-839B-55E3-9931-42802705E1EE}"/>
                </a:ext>
              </a:extLst>
            </p:cNvPr>
            <p:cNvSpPr txBox="1"/>
            <p:nvPr/>
          </p:nvSpPr>
          <p:spPr>
            <a:xfrm>
              <a:off x="666098" y="4667288"/>
              <a:ext cx="5406880" cy="7947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100"/>
                </a:lnSpc>
              </a:pPr>
              <a:r>
                <a:rPr lang="en-IN" sz="1600" b="1" dirty="0">
                  <a:solidFill>
                    <a:srgbClr val="334155"/>
                  </a:solidFill>
                  <a:latin typeface="Inter"/>
                </a:rPr>
                <a:t>Cost &amp; Resources: </a:t>
              </a:r>
              <a:r>
                <a:rPr lang="en-US" sz="1600" dirty="0">
                  <a:solidFill>
                    <a:srgbClr val="334155"/>
                  </a:solidFill>
                  <a:latin typeface="Inter"/>
                </a:rPr>
                <a:t>Can be developed incrementally using open-source tools, cloud services and synthetic data during the prototype stage.</a:t>
              </a:r>
              <a:endParaRPr sz="1600" b="0" i="0" u="none" dirty="0">
                <a:solidFill>
                  <a:srgbClr val="334155"/>
                </a:solidFill>
                <a:latin typeface="Inter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E795A53-5E13-A00B-1A94-56C06B07E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2094" y="1880749"/>
              <a:ext cx="201022" cy="17516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BFB62F7-2E0B-F793-0BDD-05E09A7CE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2094" y="2845238"/>
              <a:ext cx="197506" cy="17209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103CAE8-E2DC-8804-9272-290DBD5D0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081" y="4738528"/>
              <a:ext cx="197505" cy="16541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336EA0C-845A-FE2F-5D12-DD9C0440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3528" y="3722083"/>
              <a:ext cx="173684" cy="173218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95C55F-5C63-1757-98FD-22A2B9D21E28}"/>
              </a:ext>
            </a:extLst>
          </p:cNvPr>
          <p:cNvGrpSpPr/>
          <p:nvPr/>
        </p:nvGrpSpPr>
        <p:grpSpPr>
          <a:xfrm>
            <a:off x="6283809" y="1847495"/>
            <a:ext cx="5880274" cy="3591521"/>
            <a:chOff x="6127961" y="1847495"/>
            <a:chExt cx="5880274" cy="359152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0E7FCAB-22BA-D095-8767-F0DA511CAF98}"/>
                </a:ext>
              </a:extLst>
            </p:cNvPr>
            <p:cNvGrpSpPr/>
            <p:nvPr/>
          </p:nvGrpSpPr>
          <p:grpSpPr>
            <a:xfrm>
              <a:off x="6127961" y="3322067"/>
              <a:ext cx="5418180" cy="615553"/>
              <a:chOff x="6127961" y="3322067"/>
              <a:chExt cx="5418180" cy="615553"/>
            </a:xfrm>
          </p:grpSpPr>
          <p:sp>
            <p:nvSpPr>
              <p:cNvPr id="48" name="TextBox 16">
                <a:extLst>
                  <a:ext uri="{FF2B5EF4-FFF2-40B4-BE49-F238E27FC236}">
                    <a16:creationId xmlns:a16="http://schemas.microsoft.com/office/drawing/2014/main" id="{7412C38A-8E59-4725-9A86-C50F62FC6F77}"/>
                  </a:ext>
                </a:extLst>
              </p:cNvPr>
              <p:cNvSpPr txBox="1"/>
              <p:nvPr/>
            </p:nvSpPr>
            <p:spPr>
              <a:xfrm>
                <a:off x="6397879" y="3322067"/>
                <a:ext cx="5148262" cy="61555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575"/>
                  </a:lnSpc>
                </a:pPr>
                <a:r>
                  <a:rPr lang="en-US" sz="1600" b="1" dirty="0">
                    <a:solidFill>
                      <a:srgbClr val="334155"/>
                    </a:solidFill>
                    <a:latin typeface="Inter"/>
                  </a:rPr>
                  <a:t>Ecosystem compatibility: </a:t>
                </a:r>
                <a:r>
                  <a:rPr lang="en-US" sz="1600" dirty="0">
                    <a:solidFill>
                      <a:srgbClr val="334155"/>
                    </a:solidFill>
                    <a:latin typeface="Inter"/>
                  </a:rPr>
                  <a:t>Designed around UPI QR/payment workflows rather than creating an entirely separate payment system</a:t>
                </a:r>
                <a:r>
                  <a:rPr sz="1600" b="0" i="0" u="none" dirty="0">
                    <a:solidFill>
                      <a:srgbClr val="334155"/>
                    </a:solidFill>
                    <a:latin typeface="Inter"/>
                  </a:rPr>
                  <a:t>.</a:t>
                </a: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A623316-6F4A-C9B7-8C4A-6DAE9D545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7961" y="3362446"/>
                <a:ext cx="201081" cy="215444"/>
              </a:xfrm>
              <a:prstGeom prst="rect">
                <a:avLst/>
              </a:prstGeom>
            </p:spPr>
          </p:pic>
        </p:grpSp>
        <p:sp>
          <p:nvSpPr>
            <p:cNvPr id="45" name="TextBox 13">
              <a:extLst>
                <a:ext uri="{FF2B5EF4-FFF2-40B4-BE49-F238E27FC236}">
                  <a16:creationId xmlns:a16="http://schemas.microsoft.com/office/drawing/2014/main" id="{24A97697-6F56-3660-631B-322E29A5CA9B}"/>
                </a:ext>
              </a:extLst>
            </p:cNvPr>
            <p:cNvSpPr txBox="1"/>
            <p:nvPr/>
          </p:nvSpPr>
          <p:spPr>
            <a:xfrm>
              <a:off x="6642565" y="1863917"/>
              <a:ext cx="536567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u="none" dirty="0">
                  <a:solidFill>
                    <a:srgbClr val="0F172A"/>
                  </a:solidFill>
                  <a:latin typeface="Plus Jakarta Sans SemiBold"/>
                </a:rPr>
                <a:t>Implementation</a:t>
              </a:r>
              <a:r>
                <a:rPr b="1" i="0" u="none" dirty="0">
                  <a:solidFill>
                    <a:srgbClr val="0F172A"/>
                  </a:solidFill>
                  <a:latin typeface="Plus Jakarta Sans SemiBold"/>
                </a:rPr>
                <a:t> </a:t>
              </a:r>
              <a:r>
                <a:rPr sz="2000" b="1" i="0" u="none" dirty="0">
                  <a:solidFill>
                    <a:srgbClr val="0F172A"/>
                  </a:solidFill>
                  <a:latin typeface="Plus Jakarta Sans SemiBold"/>
                </a:rPr>
                <a:t>Viability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9D38C344-48BB-A0F6-5C90-BA0EDD525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139558" y="1847495"/>
              <a:ext cx="367149" cy="330434"/>
            </a:xfrm>
            <a:prstGeom prst="rect">
              <a:avLst/>
            </a:prstGeom>
          </p:spPr>
        </p:pic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3C4F5F78-CF57-0528-DE3B-FD96585A88A8}"/>
                </a:ext>
              </a:extLst>
            </p:cNvPr>
            <p:cNvSpPr txBox="1"/>
            <p:nvPr/>
          </p:nvSpPr>
          <p:spPr>
            <a:xfrm>
              <a:off x="6397879" y="4138916"/>
              <a:ext cx="5148262" cy="6183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575"/>
                </a:lnSpc>
              </a:pPr>
              <a:r>
                <a:rPr lang="en-US" sz="1600" b="1" dirty="0">
                  <a:solidFill>
                    <a:srgbClr val="334155"/>
                  </a:solidFill>
                  <a:latin typeface="Inter"/>
                </a:rPr>
                <a:t>Scalable use: </a:t>
              </a:r>
              <a:r>
                <a:rPr lang="en-US" sz="1600" dirty="0">
                  <a:solidFill>
                    <a:srgbClr val="334155"/>
                  </a:solidFill>
                  <a:latin typeface="Inter"/>
                </a:rPr>
                <a:t>The same API model could potentially serve multiple UPI apps, fintech platforms and banking partners.</a:t>
              </a:r>
            </a:p>
            <a:p>
              <a:pPr>
                <a:lnSpc>
                  <a:spcPts val="1575"/>
                </a:lnSpc>
              </a:pPr>
              <a:endParaRPr sz="1600" b="0" i="0" u="none" dirty="0">
                <a:solidFill>
                  <a:srgbClr val="334155"/>
                </a:solidFill>
                <a:latin typeface="Inter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B1E42D8-66CF-2748-2FBF-0A09A08AA4C0}"/>
                </a:ext>
              </a:extLst>
            </p:cNvPr>
            <p:cNvGrpSpPr/>
            <p:nvPr/>
          </p:nvGrpSpPr>
          <p:grpSpPr>
            <a:xfrm>
              <a:off x="6155468" y="2558354"/>
              <a:ext cx="5402270" cy="413190"/>
              <a:chOff x="6155468" y="2499362"/>
              <a:chExt cx="5402270" cy="413190"/>
            </a:xfrm>
          </p:grpSpPr>
          <p:sp>
            <p:nvSpPr>
              <p:cNvPr id="47" name="TextBox 15">
                <a:extLst>
                  <a:ext uri="{FF2B5EF4-FFF2-40B4-BE49-F238E27FC236}">
                    <a16:creationId xmlns:a16="http://schemas.microsoft.com/office/drawing/2014/main" id="{FFB34D24-6503-6A0A-E7C7-567B04305EBE}"/>
                  </a:ext>
                </a:extLst>
              </p:cNvPr>
              <p:cNvSpPr txBox="1"/>
              <p:nvPr/>
            </p:nvSpPr>
            <p:spPr>
              <a:xfrm>
                <a:off x="6409476" y="2499362"/>
                <a:ext cx="5148262" cy="4131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575"/>
                  </a:lnSpc>
                </a:pPr>
                <a:r>
                  <a:rPr lang="en-US" sz="1600" b="1" dirty="0">
                    <a:solidFill>
                      <a:srgbClr val="334155"/>
                    </a:solidFill>
                    <a:latin typeface="Inter"/>
                  </a:rPr>
                  <a:t>Strong user value: </a:t>
                </a:r>
                <a:r>
                  <a:rPr lang="en-US" sz="1600" dirty="0">
                    <a:solidFill>
                      <a:srgbClr val="334155"/>
                    </a:solidFill>
                    <a:latin typeface="Inter"/>
                  </a:rPr>
                  <a:t>Provides visual and voice warnings before a potentially fraudulent payment proceeds.</a:t>
                </a:r>
                <a:endParaRPr sz="1600" b="0" i="0" u="none" dirty="0">
                  <a:solidFill>
                    <a:srgbClr val="334155"/>
                  </a:solidFill>
                  <a:latin typeface="Inter"/>
                </a:endParaRPr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20E4E3B8-7CA7-D42C-5BAB-396E4AAA3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5468" y="2506282"/>
                <a:ext cx="201080" cy="215444"/>
              </a:xfrm>
              <a:prstGeom prst="rect">
                <a:avLst/>
              </a:prstGeom>
            </p:spPr>
          </p:pic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A68ED1D-13D6-610E-621A-703C5BC8B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133251" y="4159842"/>
              <a:ext cx="209550" cy="224519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4349D6E-59B1-7A57-BF86-3735FC78101C}"/>
                </a:ext>
              </a:extLst>
            </p:cNvPr>
            <p:cNvGrpSpPr/>
            <p:nvPr/>
          </p:nvGrpSpPr>
          <p:grpSpPr>
            <a:xfrm>
              <a:off x="6139558" y="4823463"/>
              <a:ext cx="5418180" cy="615553"/>
              <a:chOff x="6127961" y="3322067"/>
              <a:chExt cx="5418180" cy="615553"/>
            </a:xfrm>
          </p:grpSpPr>
          <p:sp>
            <p:nvSpPr>
              <p:cNvPr id="8" name="TextBox 16">
                <a:extLst>
                  <a:ext uri="{FF2B5EF4-FFF2-40B4-BE49-F238E27FC236}">
                    <a16:creationId xmlns:a16="http://schemas.microsoft.com/office/drawing/2014/main" id="{4EAD825A-F7E0-94DC-FC7B-44B4E4F80234}"/>
                  </a:ext>
                </a:extLst>
              </p:cNvPr>
              <p:cNvSpPr txBox="1"/>
              <p:nvPr/>
            </p:nvSpPr>
            <p:spPr>
              <a:xfrm>
                <a:off x="6397879" y="3322067"/>
                <a:ext cx="5148262" cy="61555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575"/>
                  </a:lnSpc>
                </a:pPr>
                <a:r>
                  <a:rPr lang="en-US" sz="1600" b="1" dirty="0">
                    <a:solidFill>
                      <a:srgbClr val="334155"/>
                    </a:solidFill>
                    <a:latin typeface="Inter"/>
                  </a:rPr>
                  <a:t>Future expansion: </a:t>
                </a:r>
                <a:r>
                  <a:rPr lang="en-US" sz="1600" dirty="0">
                    <a:solidFill>
                      <a:srgbClr val="334155"/>
                    </a:solidFill>
                    <a:latin typeface="Inter"/>
                  </a:rPr>
                  <a:t>Your PPT proposes pilot deployment with fintech/payment aggregators and banks, along with expanded biometric verification and banking risk alerts</a:t>
                </a:r>
                <a:r>
                  <a:rPr sz="1600" b="0" i="0" u="none" dirty="0">
                    <a:solidFill>
                      <a:srgbClr val="334155"/>
                    </a:solidFill>
                    <a:latin typeface="Inter"/>
                  </a:rPr>
                  <a:t>.</a:t>
                </a: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162286C-1917-5831-2956-923C8BFEC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7961" y="3362446"/>
                <a:ext cx="201081" cy="215444"/>
              </a:xfrm>
              <a:prstGeom prst="rect">
                <a:avLst/>
              </a:prstGeom>
            </p:spPr>
          </p:pic>
        </p:grp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1D99D9D3-047C-423B-719E-02CF0F9AA8A6}"/>
              </a:ext>
            </a:extLst>
          </p:cNvPr>
          <p:cNvSpPr txBox="1"/>
          <p:nvPr/>
        </p:nvSpPr>
        <p:spPr>
          <a:xfrm>
            <a:off x="742951" y="1873094"/>
            <a:ext cx="536567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 err="1">
                <a:solidFill>
                  <a:srgbClr val="0F172A"/>
                </a:solidFill>
                <a:latin typeface="Plus Jakarta Sans SemiBold"/>
              </a:rPr>
              <a:t>Feasibilit</a:t>
            </a:r>
            <a:r>
              <a:rPr sz="2000" b="1" i="0" u="none" dirty="0">
                <a:solidFill>
                  <a:srgbClr val="0F172A"/>
                </a:solidFill>
                <a:latin typeface="Plus Jakarta Sans SemiBold"/>
              </a:rPr>
              <a:t>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6B33FD-D6EC-07C3-9E8E-E3F378CED2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7498" y="1881566"/>
            <a:ext cx="367149" cy="3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189304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2407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Face Off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C1D24B-459C-9382-8DF8-1B8CD725AF9D}"/>
              </a:ext>
            </a:extLst>
          </p:cNvPr>
          <p:cNvGrpSpPr/>
          <p:nvPr/>
        </p:nvGrpSpPr>
        <p:grpSpPr>
          <a:xfrm>
            <a:off x="368649" y="1667621"/>
            <a:ext cx="3524250" cy="2438400"/>
            <a:chOff x="486119" y="2310984"/>
            <a:chExt cx="3524250" cy="24384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89E2022-5795-0675-D673-4025E480E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119" y="2310984"/>
              <a:ext cx="3524250" cy="2438400"/>
            </a:xfrm>
            <a:prstGeom prst="rect">
              <a:avLst/>
            </a:prstGeom>
          </p:spPr>
        </p:pic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2EB00005-3690-0C77-1871-F1BD2C587883}"/>
                </a:ext>
              </a:extLst>
            </p:cNvPr>
            <p:cNvSpPr txBox="1"/>
            <p:nvPr/>
          </p:nvSpPr>
          <p:spPr>
            <a:xfrm>
              <a:off x="697038" y="3028248"/>
              <a:ext cx="3180397" cy="369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400" b="1" i="0" u="none" dirty="0">
                  <a:solidFill>
                    <a:srgbClr val="1E293B"/>
                  </a:solidFill>
                  <a:latin typeface="Plus Jakarta Sans"/>
                </a:rPr>
                <a:t>Enhanced Safety</a:t>
              </a: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43A9431D-A26A-43D7-3B08-C83B0C4D4D5F}"/>
                </a:ext>
              </a:extLst>
            </p:cNvPr>
            <p:cNvSpPr txBox="1"/>
            <p:nvPr/>
          </p:nvSpPr>
          <p:spPr>
            <a:xfrm>
              <a:off x="697038" y="3545326"/>
              <a:ext cx="3028950" cy="7715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025"/>
                </a:lnSpc>
              </a:pPr>
              <a:r>
                <a:rPr sz="1600" b="0" i="0" u="none" dirty="0">
                  <a:solidFill>
                    <a:srgbClr val="475569"/>
                  </a:solidFill>
                  <a:latin typeface="Inter"/>
                </a:rPr>
                <a:t>Protects millions of everyday digital payment users against subtle QR-swapping redirection attacks.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91927F-433D-643D-EA79-FBCB9BC4D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7038" y="2605088"/>
              <a:ext cx="342900" cy="3429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559AF2E-9A1C-2CDC-B07A-EBED15FD77B8}"/>
              </a:ext>
            </a:extLst>
          </p:cNvPr>
          <p:cNvGrpSpPr/>
          <p:nvPr/>
        </p:nvGrpSpPr>
        <p:grpSpPr>
          <a:xfrm>
            <a:off x="4235615" y="4052637"/>
            <a:ext cx="3524250" cy="2438400"/>
            <a:chOff x="4143302" y="2310984"/>
            <a:chExt cx="3524250" cy="24384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A08341B-8B7B-92AE-66E7-70DD057A1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302" y="2310984"/>
              <a:ext cx="3524250" cy="2438400"/>
            </a:xfrm>
            <a:prstGeom prst="rect">
              <a:avLst/>
            </a:prstGeom>
          </p:spPr>
        </p:pic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66186022-3257-BA35-16CD-AAAB508776FC}"/>
                </a:ext>
              </a:extLst>
            </p:cNvPr>
            <p:cNvSpPr txBox="1"/>
            <p:nvPr/>
          </p:nvSpPr>
          <p:spPr>
            <a:xfrm>
              <a:off x="4236752" y="3019425"/>
              <a:ext cx="3180397" cy="369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400" b="1" i="0" u="none" dirty="0">
                  <a:solidFill>
                    <a:srgbClr val="1E293B"/>
                  </a:solidFill>
                  <a:latin typeface="Plus Jakarta Sans"/>
                </a:rPr>
                <a:t>Real-Time Defense</a:t>
              </a:r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DADAE838-F043-C010-38E9-92830C2282C3}"/>
                </a:ext>
              </a:extLst>
            </p:cNvPr>
            <p:cNvSpPr txBox="1"/>
            <p:nvPr/>
          </p:nvSpPr>
          <p:spPr>
            <a:xfrm>
              <a:off x="4236752" y="3471118"/>
              <a:ext cx="3028950" cy="10287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025"/>
                </a:lnSpc>
              </a:pPr>
              <a:r>
                <a:rPr sz="1600" b="0" i="0" u="none" dirty="0">
                  <a:solidFill>
                    <a:srgbClr val="475569"/>
                  </a:solidFill>
                  <a:latin typeface="Inter"/>
                </a:rPr>
                <a:t>Stops fraudulent transactions before money leaves the user account through instant voice/visual warnings.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9E5C9A7-F679-664B-C48A-1D218576C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87495" y="2594164"/>
              <a:ext cx="304800" cy="3429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374992-6870-7CB9-B246-DA1C48DB8231}"/>
              </a:ext>
            </a:extLst>
          </p:cNvPr>
          <p:cNvGrpSpPr/>
          <p:nvPr/>
        </p:nvGrpSpPr>
        <p:grpSpPr>
          <a:xfrm>
            <a:off x="8111833" y="1667621"/>
            <a:ext cx="3524250" cy="2438400"/>
            <a:chOff x="8053102" y="2310984"/>
            <a:chExt cx="3524250" cy="24384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5013656-8232-B6D3-E071-BD3CFBDB7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3102" y="2310984"/>
              <a:ext cx="3524250" cy="2438400"/>
            </a:xfrm>
            <a:prstGeom prst="rect">
              <a:avLst/>
            </a:prstGeom>
          </p:spPr>
        </p:pic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0412D53B-7488-5DBC-A51B-802C3A4ABC87}"/>
                </a:ext>
              </a:extLst>
            </p:cNvPr>
            <p:cNvSpPr txBox="1"/>
            <p:nvPr/>
          </p:nvSpPr>
          <p:spPr>
            <a:xfrm>
              <a:off x="8225028" y="2996469"/>
              <a:ext cx="3180397" cy="369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400" b="1" i="0" u="none" dirty="0">
                  <a:solidFill>
                    <a:srgbClr val="1E293B"/>
                  </a:solidFill>
                  <a:latin typeface="Plus Jakarta Sans"/>
                </a:rPr>
                <a:t>Ecosystem Trust</a:t>
              </a:r>
            </a:p>
          </p:txBody>
        </p:sp>
        <p:sp>
          <p:nvSpPr>
            <p:cNvPr id="19" name="TextBox 9">
              <a:extLst>
                <a:ext uri="{FF2B5EF4-FFF2-40B4-BE49-F238E27FC236}">
                  <a16:creationId xmlns:a16="http://schemas.microsoft.com/office/drawing/2014/main" id="{71621957-471D-1FC8-4F18-540658A36AE8}"/>
                </a:ext>
              </a:extLst>
            </p:cNvPr>
            <p:cNvSpPr txBox="1"/>
            <p:nvPr/>
          </p:nvSpPr>
          <p:spPr>
            <a:xfrm>
              <a:off x="8208677" y="3429453"/>
              <a:ext cx="3028950" cy="10159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025"/>
                </a:lnSpc>
              </a:pPr>
              <a:r>
                <a:rPr sz="1600" b="0" i="0" u="none" dirty="0">
                  <a:solidFill>
                    <a:srgbClr val="475569"/>
                  </a:solidFill>
                  <a:latin typeface="Inter"/>
                </a:rPr>
                <a:t>Improves overall confidence in India's booming UPI </a:t>
              </a:r>
              <a:r>
                <a:rPr sz="1600" dirty="0">
                  <a:solidFill>
                    <a:srgbClr val="475569"/>
                  </a:solidFill>
                  <a:latin typeface="Inter"/>
                </a:rPr>
                <a:t>infrastructure</a:t>
              </a:r>
              <a:r>
                <a:rPr sz="1600" b="0" i="0" u="none" dirty="0">
                  <a:solidFill>
                    <a:srgbClr val="475569"/>
                  </a:solidFill>
                  <a:latin typeface="Inter"/>
                </a:rPr>
                <a:t> without disrupting native UX workflows.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AA3B4D5-E42C-57EE-8231-071ED443B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38353" y="2589917"/>
              <a:ext cx="342900" cy="342900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E0F06EB-5CE6-7221-9AE8-A332BBB0D5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314" y="4335817"/>
            <a:ext cx="3210651" cy="20130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DC13A93-1597-8286-11E8-9567185C25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5515" y="4323414"/>
            <a:ext cx="3211200" cy="20384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1388DD3-5D7A-DE03-3AE7-22150BEA54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0355" y="1931291"/>
            <a:ext cx="3692553" cy="16503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4399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Face OFF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2F2A8B-3B67-E427-CC8E-52E38C695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195" y="2289813"/>
            <a:ext cx="4376283" cy="3251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E6DD73-13DD-4F9D-EE60-04C3D16B74E0}"/>
              </a:ext>
            </a:extLst>
          </p:cNvPr>
          <p:cNvSpPr txBox="1"/>
          <p:nvPr/>
        </p:nvSpPr>
        <p:spPr>
          <a:xfrm>
            <a:off x="524548" y="1359451"/>
            <a:ext cx="69086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NPCI (National Payments Corporation of India): </a:t>
            </a:r>
            <a:r>
              <a:rPr lang="en-IN" dirty="0">
                <a:hlinkClick r:id="rId5"/>
              </a:rPr>
              <a:t>https://www.npci.org.in/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UPI Product Overview: </a:t>
            </a:r>
          </a:p>
          <a:p>
            <a:r>
              <a:rPr lang="en-IN" dirty="0">
                <a:hlinkClick r:id="rId6"/>
              </a:rPr>
              <a:t>https://www.npci.org.in/what-we-do/upi/productoverview</a:t>
            </a:r>
            <a:endParaRPr lang="en-IN" dirty="0"/>
          </a:p>
          <a:p>
            <a:endParaRPr lang="en-IN" dirty="0"/>
          </a:p>
          <a:p>
            <a:r>
              <a:rPr lang="en-IN" b="1" dirty="0" err="1"/>
              <a:t>Krombholz</a:t>
            </a:r>
            <a:r>
              <a:rPr lang="en-IN" b="1" dirty="0"/>
              <a:t> et al</a:t>
            </a:r>
            <a:r>
              <a:rPr lang="en-IN" dirty="0"/>
              <a:t>., “QR Code Security – How Secure and Usable Apps Can Protect Users Against Malicious QR Codes,” IEEE ARES, 2015.</a:t>
            </a:r>
          </a:p>
          <a:p>
            <a:r>
              <a:rPr lang="en-IN" dirty="0">
                <a:hlinkClick r:id="rId7"/>
              </a:rPr>
              <a:t>https://link.springer.com/chapter/10.1007/978-3-319-07620-1_8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Focardi et al</a:t>
            </a:r>
            <a:r>
              <a:rPr lang="en-IN" dirty="0"/>
              <a:t>., “Usable Security for QR Code,” Journal of Information Security and Applications, 2019.</a:t>
            </a:r>
          </a:p>
          <a:p>
            <a:r>
              <a:rPr lang="en-IN" dirty="0">
                <a:hlinkClick r:id="rId8"/>
              </a:rPr>
              <a:t>https://www.sciencedirect.com/science/article/abs/pii/S2214212619301693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AI-Driven Detection Mechanism for UPI Fraud and QR Code Tampering</a:t>
            </a:r>
            <a:r>
              <a:rPr lang="en-IN" dirty="0"/>
              <a:t>, IEEE ICICV, 2025, DOI: 10.1109/ICICV64824.2025.11085656.</a:t>
            </a:r>
          </a:p>
          <a:p>
            <a:r>
              <a:rPr lang="en-IN" dirty="0">
                <a:hlinkClick r:id="rId9"/>
              </a:rPr>
              <a:t>https://ieeexplore.ieee.org/document/11085656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7680</TotalTime>
  <Words>767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ＭＳ Ｐゴシック</vt:lpstr>
      <vt:lpstr>Arial</vt:lpstr>
      <vt:lpstr>Calibri</vt:lpstr>
      <vt:lpstr>Cambria</vt:lpstr>
      <vt:lpstr>Garamond</vt:lpstr>
      <vt:lpstr>Inter</vt:lpstr>
      <vt:lpstr>Plus Jakarta Sans</vt:lpstr>
      <vt:lpstr>Plus Jakarta Sans SemiBold</vt:lpstr>
      <vt:lpstr>Raleway Bold</vt:lpstr>
      <vt:lpstr>Roboto</vt:lpstr>
      <vt:lpstr>Times New Roman</vt:lpstr>
      <vt:lpstr>TradeGothic</vt:lpstr>
      <vt:lpstr>Office Theme</vt:lpstr>
      <vt:lpstr>SMART INDIA HACKATHON 2026</vt:lpstr>
      <vt:lpstr> TITLE –QRShield API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Appandairaj J</cp:lastModifiedBy>
  <cp:revision>154</cp:revision>
  <dcterms:created xsi:type="dcterms:W3CDTF">2013-12-12T18:46:50Z</dcterms:created>
  <dcterms:modified xsi:type="dcterms:W3CDTF">2026-09-25T09:03:47Z</dcterms:modified>
  <cp:category/>
</cp:coreProperties>
</file>